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FF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3200400"/>
            <a:ext cx="4114800" cy="4114800"/>
          </a:xfrm>
          <a:prstGeom prst="ellipse">
            <a:avLst/>
          </a:prstGeom>
          <a:solidFill>
            <a:srgbClr val="D8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0" y="5303520"/>
            <a:ext cx="2926080" cy="2926080"/>
          </a:xfrm>
          <a:prstGeom prst="ellipse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4983480"/>
            <a:ext cx="10972800" cy="14173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7A9A"/>
                </a:solidFill>
                <a:latin typeface="Microsoft YaHei"/>
                <a:ea typeface="Microsoft YaHei"/>
              </a:rPr>
              <a:t>越境智绘 · Beyond Borders  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5A526A"/>
                </a:solidFill>
                <a:latin typeface="Microsoft YaHei"/>
                <a:ea typeface="Microsoft YaHei"/>
              </a:rPr>
              <a:t>跨境AI营销系统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8296"/>
                </a:solidFill>
                <a:latin typeface="Microsoft YaHei"/>
                <a:ea typeface="Microsoft YaHei"/>
              </a:rPr>
              <a:t>选品 → 文案 → 抠图 / 背景 / 海报 → 客服与看板</a:t>
            </a:r>
          </a:p>
          <a:p>
            <a:pPr algn="l"/>
            <a:r>
              <a:rPr sz="1800" b="0">
                <a:solidFill>
                  <a:srgbClr val="8A8296"/>
                </a:solidFill>
                <a:latin typeface="Microsoft YaHei"/>
                <a:ea typeface="Microsoft YaHei"/>
              </a:rPr>
              <a:t>一站式 AI 电商营销工具平台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12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7A9A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8296"/>
                </a:solidFill>
                <a:latin typeface="Microsoft YaHei"/>
                <a:ea typeface="Microsoft YaHei"/>
              </a:rPr>
              <a:t>统一前后端 · 模块化协作 · 可演示全链路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FF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011680" cy="2011680"/>
          </a:xfrm>
          <a:prstGeom prst="ellipse">
            <a:avLst/>
          </a:prstGeom>
          <a:solidFill>
            <a:srgbClr val="E0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  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A526A"/>
                </a:solidFill>
                <a:latin typeface="Microsoft YaHei"/>
                <a:ea typeface="Microsoft YaHei"/>
              </a:rPr>
              <a:t>为什么做 · 服务谁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8296"/>
                </a:solidFill>
                <a:latin typeface="Microsoft YaHei"/>
                <a:ea typeface="Microsoft YaHei"/>
              </a:rPr>
              <a:t>跨境卖家素材链路长，工具分散，需要端到端闭环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54480"/>
            <a:ext cx="3566160" cy="4114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554480"/>
            <a:ext cx="3566160" cy="64008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痛点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688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26A"/>
                </a:solidFill>
                <a:latin typeface="Microsoft YaHei"/>
                <a:ea typeface="Microsoft YaHei"/>
              </a:rPr>
              <a:t>选品、抠图、场景、海报文案、</a:t>
            </a:r>
          </a:p>
          <a:p>
            <a:pPr algn="l"/>
            <a:r>
              <a:rPr sz="1600" b="0">
                <a:solidFill>
                  <a:srgbClr val="5A526A"/>
                </a:solidFill>
                <a:latin typeface="Microsoft YaHei"/>
                <a:ea typeface="Microsoft YaHei"/>
              </a:rPr>
              <a:t>客服、数据分散</a:t>
            </a:r>
          </a:p>
          <a:p>
            <a:pPr algn="l"/>
            <a:r>
              <a:rPr sz="1600" b="0">
                <a:solidFill>
                  <a:srgbClr val="5A526A"/>
                </a:solidFill>
                <a:latin typeface="Microsoft YaHei"/>
                <a:ea typeface="Microsoft YaHei"/>
              </a:rPr>
              <a:t>素材制作链路长、协作成本高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554480"/>
            <a:ext cx="3566160" cy="4114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554480"/>
            <a:ext cx="3566160" cy="64008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6916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用户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4688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26A"/>
                </a:solidFill>
                <a:latin typeface="Microsoft YaHei"/>
                <a:ea typeface="Microsoft YaHei"/>
              </a:rPr>
              <a:t>跨境电商商家 / 运营</a:t>
            </a:r>
          </a:p>
          <a:p>
            <a:pPr algn="l"/>
            <a:r>
              <a:rPr sz="1600" b="0">
                <a:solidFill>
                  <a:srgbClr val="5A526A"/>
                </a:solidFill>
                <a:latin typeface="Microsoft YaHei"/>
                <a:ea typeface="Microsoft YaHei"/>
              </a:rPr>
              <a:t>设计与内容协作方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554480"/>
            <a:ext cx="3566160" cy="4114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554480"/>
            <a:ext cx="3566160" cy="64008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6916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价值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688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26A"/>
                </a:solidFill>
                <a:latin typeface="Microsoft YaHei"/>
                <a:ea typeface="Microsoft YaHei"/>
              </a:rPr>
              <a:t>从 ABO 货盘到可发布营销海报</a:t>
            </a:r>
          </a:p>
          <a:p>
            <a:pPr algn="l"/>
            <a:r>
              <a:rPr sz="1600" b="0">
                <a:solidFill>
                  <a:srgbClr val="5A526A"/>
                </a:solidFill>
                <a:latin typeface="Microsoft YaHei"/>
                <a:ea typeface="Microsoft YaHei"/>
              </a:rPr>
              <a:t>一站式完成营销素材与运营辅助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FF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011680" cy="2011680"/>
          </a:xfrm>
          <a:prstGeom prst="ellipse">
            <a:avLst/>
          </a:prstGeom>
          <a:solidFill>
            <a:srgbClr val="E0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  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A526A"/>
                </a:solidFill>
                <a:latin typeface="Microsoft YaHei"/>
                <a:ea typeface="Microsoft YaHei"/>
              </a:rPr>
              <a:t>整体架构一览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8296"/>
                </a:solidFill>
                <a:latin typeface="Microsoft YaHei"/>
                <a:ea typeface="Microsoft YaHei"/>
              </a:rPr>
              <a:t>统一入口 · 模块化挂载 · 本地知识库与静态资产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54480"/>
            <a:ext cx="11247120" cy="12801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554480"/>
            <a:ext cx="2011680" cy="128016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前端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78308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26A"/>
                </a:solidFill>
                <a:latin typeface="Microsoft YaHei"/>
                <a:ea typeface="Microsoft YaHei"/>
              </a:rPr>
              <a:t>Vue 3 + Vite + Element Plus</a:t>
            </a:r>
          </a:p>
          <a:p>
            <a:pPr algn="l"/>
            <a:r>
              <a:rPr sz="1600" b="0">
                <a:solidFill>
                  <a:srgbClr val="5A526A"/>
                </a:solidFill>
                <a:latin typeface="Microsoft YaHei"/>
                <a:ea typeface="Microsoft YaHei"/>
              </a:rPr>
              <a:t>Pinia / Router / i18n</a:t>
            </a:r>
          </a:p>
          <a:p>
            <a:pPr algn="l"/>
            <a:r>
              <a:rPr sz="1600" b="0">
                <a:solidFill>
                  <a:srgbClr val="5A526A"/>
                </a:solidFill>
                <a:latin typeface="Microsoft YaHei"/>
                <a:ea typeface="Microsoft YaHei"/>
              </a:rPr>
              <a:t>@m1–@m5 聚合各模块页面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71800"/>
            <a:ext cx="11247120" cy="12801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971800"/>
            <a:ext cx="2011680" cy="128016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383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后端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20040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26A"/>
                </a:solidFill>
                <a:latin typeface="Microsoft YaHei"/>
                <a:ea typeface="Microsoft YaHei"/>
              </a:rPr>
              <a:t>FastAPI + Uvicorn</a:t>
            </a:r>
          </a:p>
          <a:p>
            <a:pPr algn="l"/>
            <a:r>
              <a:rPr sz="1600" b="0">
                <a:solidFill>
                  <a:srgbClr val="5A526A"/>
                </a:solidFill>
                <a:latin typeface="Microsoft YaHei"/>
                <a:ea typeface="Microsoft YaHei"/>
              </a:rPr>
              <a:t>python run.py 统一启动</a:t>
            </a:r>
          </a:p>
          <a:p>
            <a:pPr algn="l"/>
            <a:r>
              <a:rPr sz="1600" b="0">
                <a:solidFill>
                  <a:srgbClr val="5A526A"/>
                </a:solidFill>
                <a:latin typeface="Microsoft YaHei"/>
                <a:ea typeface="Microsoft YaHei"/>
              </a:rPr>
              <a:t>自动挂载 module1–5 路由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389120"/>
            <a:ext cx="11247120" cy="12801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389120"/>
            <a:ext cx="2011680" cy="128016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800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数据与资产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61772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26A"/>
                </a:solidFill>
                <a:latin typeface="Microsoft YaHei"/>
                <a:ea typeface="Microsoft YaHei"/>
              </a:rPr>
              <a:t>SQLite · JWT 鉴权</a:t>
            </a:r>
          </a:p>
          <a:p>
            <a:pPr algn="l"/>
            <a:r>
              <a:rPr sz="1600" b="0">
                <a:solidFill>
                  <a:srgbClr val="5A526A"/>
                </a:solidFill>
                <a:latin typeface="Microsoft YaHei"/>
                <a:ea typeface="Microsoft YaHei"/>
              </a:rPr>
              <a:t>static/{matte,background,poster}</a:t>
            </a:r>
          </a:p>
          <a:p>
            <a:pPr algn="l"/>
            <a:r>
              <a:rPr sz="1600" b="0">
                <a:solidFill>
                  <a:srgbClr val="5A526A"/>
                </a:solidFill>
                <a:latin typeface="Microsoft YaHei"/>
                <a:ea typeface="Microsoft YaHei"/>
              </a:rPr>
              <a:t>ABO 货盘 + FAISS 知识库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FF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011680" cy="2011680"/>
          </a:xfrm>
          <a:prstGeom prst="ellipse">
            <a:avLst/>
          </a:prstGeom>
          <a:solidFill>
            <a:srgbClr val="E0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  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A526A"/>
                </a:solidFill>
                <a:latin typeface="Microsoft YaHei"/>
                <a:ea typeface="Microsoft YaHei"/>
              </a:rPr>
              <a:t>五大模块职责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8296"/>
                </a:solidFill>
                <a:latin typeface="Microsoft YaHei"/>
                <a:ea typeface="Microsoft YaHei"/>
              </a:rPr>
              <a:t>成员协作边界清晰，能力可独立使用也可串联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554480"/>
            <a:ext cx="2194560" cy="42976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554480"/>
            <a:ext cx="2194560" cy="91440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178308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M1 认证·文案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4320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26A"/>
                </a:solidFill>
                <a:latin typeface="Microsoft YaHei"/>
                <a:ea typeface="Microsoft YaHei"/>
              </a:rPr>
              <a:t>注册登录 JWT</a:t>
            </a:r>
          </a:p>
          <a:p>
            <a:pPr algn="ctr"/>
            <a:r>
              <a:rPr sz="1300" b="0">
                <a:solidFill>
                  <a:srgbClr val="5A526A"/>
                </a:solidFill>
                <a:latin typeface="Microsoft YaHei"/>
                <a:ea typeface="Microsoft YaHei"/>
              </a:rPr>
              <a:t>DeepSeek 多平台文案</a:t>
            </a:r>
          </a:p>
          <a:p>
            <a:pPr algn="ctr"/>
            <a:r>
              <a:rPr sz="1300" b="0">
                <a:solidFill>
                  <a:srgbClr val="5A526A"/>
                </a:solidFill>
                <a:latin typeface="Microsoft YaHei"/>
                <a:ea typeface="Microsoft YaHei"/>
              </a:rPr>
              <a:t>智能选品中心·整合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1554480"/>
            <a:ext cx="2194560" cy="42976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51760" y="1554480"/>
            <a:ext cx="2194560" cy="914400"/>
          </a:xfrm>
          <a:prstGeom prst="rect">
            <a:avLst/>
          </a:prstGeom>
          <a:solidFill>
            <a:srgbClr val="7E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1488" y="178308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M2 商品抠图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74320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26A"/>
                </a:solidFill>
                <a:latin typeface="Microsoft YaHei"/>
                <a:ea typeface="Microsoft YaHei"/>
              </a:rPr>
              <a:t>库内/上传去背景</a:t>
            </a:r>
          </a:p>
          <a:p>
            <a:pPr algn="ctr"/>
            <a:r>
              <a:rPr sz="1300" b="0">
                <a:solidFill>
                  <a:srgbClr val="5A526A"/>
                </a:solidFill>
                <a:latin typeface="Microsoft YaHei"/>
                <a:ea typeface="Microsoft YaHei"/>
              </a:rPr>
              <a:t>rembg 抠图</a:t>
            </a:r>
          </a:p>
          <a:p>
            <a:pPr algn="ctr"/>
            <a:r>
              <a:rPr sz="1300" b="0">
                <a:solidFill>
                  <a:srgbClr val="5A526A"/>
                </a:solidFill>
                <a:latin typeface="Microsoft YaHei"/>
                <a:ea typeface="Microsoft YaHei"/>
              </a:rPr>
              <a:t>可选视觉识别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83479" y="1554480"/>
            <a:ext cx="2194560" cy="42976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83479" y="1554480"/>
            <a:ext cx="2194560" cy="91440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93207" y="178308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M3 背景生成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39" y="274320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26A"/>
                </a:solidFill>
                <a:latin typeface="Microsoft YaHei"/>
                <a:ea typeface="Microsoft YaHei"/>
              </a:rPr>
              <a:t>火山方舟 Seedream</a:t>
            </a:r>
          </a:p>
          <a:p>
            <a:pPr algn="ctr"/>
            <a:r>
              <a:rPr sz="1300" b="0">
                <a:solidFill>
                  <a:srgbClr val="5A526A"/>
                </a:solidFill>
                <a:latin typeface="Microsoft YaHei"/>
                <a:ea typeface="Microsoft YaHei"/>
              </a:rPr>
              <a:t>商业场景图生成</a:t>
            </a:r>
          </a:p>
          <a:p>
            <a:pPr algn="ctr"/>
            <a:r>
              <a:rPr sz="1300" b="0">
                <a:solidFill>
                  <a:srgbClr val="5A526A"/>
                </a:solidFill>
                <a:latin typeface="Microsoft YaHei"/>
                <a:ea typeface="Microsoft YaHei"/>
              </a:rPr>
              <a:t>风格/光照/氛围可控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199" y="1554480"/>
            <a:ext cx="2194560" cy="42976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199" y="1554480"/>
            <a:ext cx="2194560" cy="914400"/>
          </a:xfrm>
          <a:prstGeom prst="rect">
            <a:avLst/>
          </a:prstGeom>
          <a:solidFill>
            <a:srgbClr val="7E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24927" y="178308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M4 海报合成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59" y="274320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26A"/>
                </a:solidFill>
                <a:latin typeface="Microsoft YaHei"/>
                <a:ea typeface="Microsoft YaHei"/>
              </a:rPr>
              <a:t>多模板 Pillow 排版</a:t>
            </a:r>
          </a:p>
          <a:p>
            <a:pPr algn="ctr"/>
            <a:r>
              <a:rPr sz="1300" b="0">
                <a:solidFill>
                  <a:srgbClr val="5A526A"/>
                </a:solidFill>
                <a:latin typeface="Microsoft YaHei"/>
                <a:ea typeface="Microsoft YaHei"/>
              </a:rPr>
              <a:t>底图 + 叠字两段式</a:t>
            </a:r>
          </a:p>
          <a:p>
            <a:pPr algn="ctr"/>
            <a:r>
              <a:rPr sz="1300" b="0">
                <a:solidFill>
                  <a:srgbClr val="5A526A"/>
                </a:solidFill>
                <a:latin typeface="Microsoft YaHei"/>
                <a:ea typeface="Microsoft YaHei"/>
              </a:rPr>
              <a:t>收藏 / 广场发布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19" y="1554480"/>
            <a:ext cx="2194560" cy="42976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46919" y="1554480"/>
            <a:ext cx="2194560" cy="91440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56647" y="178308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M5 客服·看板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79" y="274320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26A"/>
                </a:solidFill>
                <a:latin typeface="Microsoft YaHei"/>
                <a:ea typeface="Microsoft YaHei"/>
              </a:rPr>
              <a:t>FAISS RAG 客服</a:t>
            </a:r>
          </a:p>
          <a:p>
            <a:pPr algn="ctr"/>
            <a:r>
              <a:rPr sz="1300" b="0">
                <a:solidFill>
                  <a:srgbClr val="5A526A"/>
                </a:solidFill>
                <a:latin typeface="Microsoft YaHei"/>
                <a:ea typeface="Microsoft YaHei"/>
              </a:rPr>
              <a:t>ECharts 运营大屏</a:t>
            </a:r>
          </a:p>
          <a:p>
            <a:pPr algn="ctr"/>
            <a:r>
              <a:rPr sz="1300" b="0">
                <a:solidFill>
                  <a:srgbClr val="5A526A"/>
                </a:solidFill>
                <a:latin typeface="Microsoft YaHei"/>
                <a:ea typeface="Microsoft YaHei"/>
              </a:rPr>
              <a:t>AI 运营建议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FF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011680" cy="2011680"/>
          </a:xfrm>
          <a:prstGeom prst="ellipse">
            <a:avLst/>
          </a:prstGeom>
          <a:solidFill>
            <a:srgbClr val="E0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  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A526A"/>
                </a:solidFill>
                <a:latin typeface="Microsoft YaHei"/>
                <a:ea typeface="Microsoft YaHei"/>
              </a:rPr>
              <a:t>核心链路：AI 海报工作流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8296"/>
                </a:solidFill>
                <a:latin typeface="Microsoft YaHei"/>
                <a:ea typeface="Microsoft YaHei"/>
              </a:rPr>
              <a:t>四步推进 · 中间结果自动带入 · 底图可复用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645920"/>
            <a:ext cx="2697480" cy="32918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7451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7A9A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A526A"/>
                </a:solidFill>
                <a:latin typeface="Microsoft YaHei"/>
                <a:ea typeface="Microsoft YaHei"/>
              </a:rPr>
              <a:t>商品抠图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8296"/>
                </a:solidFill>
                <a:latin typeface="Microsoft YaHei"/>
                <a:ea typeface="Microsoft YaHei"/>
              </a:rPr>
              <a:t>透明商品图</a:t>
            </a:r>
          </a:p>
          <a:p>
            <a:pPr algn="l"/>
            <a:r>
              <a:rPr sz="1500" b="0">
                <a:solidFill>
                  <a:srgbClr val="8A8296"/>
                </a:solidFill>
                <a:latin typeface="Microsoft YaHei"/>
                <a:ea typeface="Microsoft YaHei"/>
              </a:rPr>
              <a:t>绑定防串货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0175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BEB2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1645920"/>
            <a:ext cx="2697480" cy="32918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187451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7A9A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4688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A526A"/>
                </a:solidFill>
                <a:latin typeface="Microsoft YaHei"/>
                <a:ea typeface="Microsoft YaHei"/>
              </a:rPr>
              <a:t>背景生成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1089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8296"/>
                </a:solidFill>
                <a:latin typeface="Microsoft YaHei"/>
                <a:ea typeface="Microsoft YaHei"/>
              </a:rPr>
              <a:t>Seedream 场景</a:t>
            </a:r>
          </a:p>
          <a:p>
            <a:pPr algn="l"/>
            <a:r>
              <a:rPr sz="1500" b="0">
                <a:solidFill>
                  <a:srgbClr val="8A8296"/>
                </a:solidFill>
                <a:latin typeface="Microsoft YaHei"/>
                <a:ea typeface="Microsoft YaHei"/>
              </a:rPr>
              <a:t>参数化控制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30175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BEB2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645920"/>
            <a:ext cx="2697480" cy="32918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87451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7A9A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4688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A526A"/>
                </a:solidFill>
                <a:latin typeface="Microsoft YaHei"/>
                <a:ea typeface="Microsoft YaHei"/>
              </a:rPr>
              <a:t>无字底图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1089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8296"/>
                </a:solidFill>
                <a:latin typeface="Microsoft YaHei"/>
                <a:ea typeface="Microsoft YaHei"/>
              </a:rPr>
              <a:t>商品+背景合成</a:t>
            </a:r>
          </a:p>
          <a:p>
            <a:pPr algn="l"/>
            <a:r>
              <a:rPr sz="1500" b="0">
                <a:solidFill>
                  <a:srgbClr val="8A8296"/>
                </a:solidFill>
                <a:latin typeface="Microsoft YaHei"/>
                <a:ea typeface="Microsoft YaHei"/>
              </a:rPr>
              <a:t>可收藏素材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30175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BEB2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1645920"/>
            <a:ext cx="2697480" cy="32918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87451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7A9A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24688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A526A"/>
                </a:solidFill>
                <a:latin typeface="Microsoft YaHei"/>
                <a:ea typeface="Microsoft YaHei"/>
              </a:rPr>
              <a:t>加文案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1089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8296"/>
                </a:solidFill>
                <a:latin typeface="Microsoft YaHei"/>
                <a:ea typeface="Microsoft YaHei"/>
              </a:rPr>
              <a:t>基于底图叠字</a:t>
            </a:r>
          </a:p>
          <a:p>
            <a:pPr algn="l"/>
            <a:r>
              <a:rPr sz="1500" b="0">
                <a:solidFill>
                  <a:srgbClr val="8A8296"/>
                </a:solidFill>
                <a:latin typeface="Microsoft YaHei"/>
                <a:ea typeface="Microsoft YaHei"/>
              </a:rPr>
              <a:t>成稿可发布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212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8A8296"/>
                </a:solidFill>
                <a:latin typeface="Microsoft YaHei"/>
                <a:ea typeface="Microsoft YaHei"/>
              </a:rPr>
              <a:t>♡  入口：/poster-workflow｜可选先从智能选品中心带入商品｜成稿可发广场，底图可「用于加字」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FF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011680" cy="2011680"/>
          </a:xfrm>
          <a:prstGeom prst="ellipse">
            <a:avLst/>
          </a:prstGeom>
          <a:solidFill>
            <a:srgbClr val="E0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  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A526A"/>
                </a:solidFill>
                <a:latin typeface="Microsoft YaHei"/>
                <a:ea typeface="Microsoft YaHei"/>
              </a:rPr>
              <a:t>关键能力（上）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8296"/>
                </a:solidFill>
                <a:latin typeface="Microsoft YaHei"/>
                <a:ea typeface="Microsoft YaHei"/>
              </a:rPr>
              <a:t>选品 · 文案 · 抠图 · 背景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54480"/>
            <a:ext cx="5486400" cy="4206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9EB5"/>
                </a:solidFill>
                <a:latin typeface="Microsoft YaHei"/>
                <a:ea typeface="Microsoft YaHei"/>
              </a:rPr>
              <a:t>选品与文案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7744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5A526A"/>
                </a:solidFill>
                <a:latin typeface="Microsoft YaHei"/>
                <a:ea typeface="Microsoft YaHei"/>
              </a:rPr>
              <a:t>♡  智能选品：检索 ABO 货盘，一键跳转文案或海报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5A526A"/>
                </a:solidFill>
                <a:latin typeface="Microsoft YaHei"/>
                <a:ea typeface="Microsoft YaHei"/>
              </a:rPr>
              <a:t>♡  文案生成：TikTok / Instagram / Amazon；中英日韩西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5A526A"/>
                </a:solidFill>
                <a:latin typeface="Microsoft YaHei"/>
                <a:ea typeface="Microsoft YaHei"/>
              </a:rPr>
              <a:t>♡  6 种风格 + 批量多平台；历史可复用到海报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5486400" cy="4206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7830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9EB5"/>
                </a:solidFill>
                <a:latin typeface="Microsoft YaHei"/>
                <a:ea typeface="Microsoft YaHei"/>
              </a:rPr>
              <a:t>视觉前处理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37744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5A526A"/>
                </a:solidFill>
                <a:latin typeface="Microsoft YaHei"/>
                <a:ea typeface="Microsoft YaHei"/>
              </a:rPr>
              <a:t>♡  商品抠图：JPG/PNG/WEBP → 透明 PNG；边缘平滑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5A526A"/>
                </a:solidFill>
                <a:latin typeface="Microsoft YaHei"/>
                <a:ea typeface="Microsoft YaHei"/>
              </a:rPr>
              <a:t>♡  背景生成：品类/风格/色调/场景/光照/氛围/机位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5A526A"/>
                </a:solidFill>
                <a:latin typeface="Microsoft YaHei"/>
                <a:ea typeface="Microsoft YaHei"/>
              </a:rPr>
              <a:t>♡  支持 Mock 模式联调；结果可缓存复用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FF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011680" cy="2011680"/>
          </a:xfrm>
          <a:prstGeom prst="ellipse">
            <a:avLst/>
          </a:prstGeom>
          <a:solidFill>
            <a:srgbClr val="E0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  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A526A"/>
                </a:solidFill>
                <a:latin typeface="Microsoft YaHei"/>
                <a:ea typeface="Microsoft YaHei"/>
              </a:rPr>
              <a:t>关键能力（下）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8296"/>
                </a:solidFill>
                <a:latin typeface="Microsoft YaHei"/>
                <a:ea typeface="Microsoft YaHei"/>
              </a:rPr>
              <a:t>海报 · 作品库 · 广场 · 客服看板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5577840" cy="20574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EB5"/>
                </a:solidFill>
                <a:latin typeface="Microsoft YaHei"/>
                <a:ea typeface="Microsoft YaHei"/>
              </a:rPr>
              <a:t>海报模板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317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26A"/>
                </a:solidFill>
                <a:latin typeface="Microsoft YaHei"/>
                <a:ea typeface="Microsoft YaHei"/>
              </a:rPr>
              <a:t>居中 / 左文右图 / 大促 / Amazon 主图风等</a:t>
            </a:r>
          </a:p>
          <a:p>
            <a:pPr algn="l"/>
            <a:r>
              <a:rPr sz="1500" b="0">
                <a:solidFill>
                  <a:srgbClr val="5A526A"/>
                </a:solidFill>
                <a:latin typeface="Microsoft YaHei"/>
                <a:ea typeface="Microsoft YaHei"/>
              </a:rPr>
              <a:t>Pillow 排版 + Seedream 可选精修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08760"/>
            <a:ext cx="5577840" cy="20574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783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EB5"/>
                </a:solidFill>
                <a:latin typeface="Microsoft YaHei"/>
                <a:ea typeface="Microsoft YaHei"/>
              </a:rPr>
              <a:t>我的作品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3317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26A"/>
                </a:solidFill>
                <a:latin typeface="Microsoft YaHei"/>
                <a:ea typeface="Microsoft YaHei"/>
              </a:rPr>
              <a:t>文案历史 · 成稿 · 底图素材 · 收藏</a:t>
            </a:r>
          </a:p>
          <a:p>
            <a:pPr algn="l"/>
            <a:r>
              <a:rPr sz="1500" b="0">
                <a:solidFill>
                  <a:srgbClr val="5A526A"/>
                </a:solidFill>
                <a:latin typeface="Microsoft YaHei"/>
                <a:ea typeface="Microsoft YaHei"/>
              </a:rPr>
              <a:t>底图一键用于加字；成稿可发布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49039"/>
            <a:ext cx="5577840" cy="20574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233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EB5"/>
                </a:solidFill>
                <a:latin typeface="Microsoft YaHei"/>
                <a:ea typeface="Microsoft YaHei"/>
              </a:rPr>
              <a:t>作品广场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71999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26A"/>
                </a:solidFill>
                <a:latin typeface="Microsoft YaHei"/>
                <a:ea typeface="Microsoft YaHei"/>
              </a:rPr>
              <a:t>浏览全站已发布海报</a:t>
            </a:r>
          </a:p>
          <a:p>
            <a:pPr algn="l"/>
            <a:r>
              <a:rPr sz="1500" b="0">
                <a:solidFill>
                  <a:srgbClr val="5A526A"/>
                </a:solidFill>
                <a:latin typeface="Microsoft YaHei"/>
                <a:ea typeface="Microsoft YaHei"/>
              </a:rPr>
              <a:t>搜索 / 预览 / 下载 / 收藏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49039"/>
            <a:ext cx="5577840" cy="20574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0233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EB5"/>
                </a:solidFill>
                <a:latin typeface="Microsoft YaHei"/>
                <a:ea typeface="Microsoft YaHei"/>
              </a:rPr>
              <a:t>客服与看板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571999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26A"/>
                </a:solidFill>
                <a:latin typeface="Microsoft YaHei"/>
                <a:ea typeface="Microsoft YaHei"/>
              </a:rPr>
              <a:t>文档上传 + FAISS RAG 客服</a:t>
            </a:r>
          </a:p>
          <a:p>
            <a:pPr algn="l"/>
            <a:r>
              <a:rPr sz="1500" b="0">
                <a:solidFill>
                  <a:srgbClr val="5A526A"/>
                </a:solidFill>
                <a:latin typeface="Microsoft YaHei"/>
                <a:ea typeface="Microsoft YaHei"/>
              </a:rPr>
              <a:t>调用趋势、预警、AI 建议、导出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FF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011680" cy="2011680"/>
          </a:xfrm>
          <a:prstGeom prst="ellipse">
            <a:avLst/>
          </a:prstGeom>
          <a:solidFill>
            <a:srgbClr val="E0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  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A526A"/>
                </a:solidFill>
                <a:latin typeface="Microsoft YaHei"/>
                <a:ea typeface="Microsoft YaHei"/>
              </a:rPr>
              <a:t>技术栈与 AI 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8296"/>
                </a:solidFill>
                <a:latin typeface="Microsoft YaHei"/>
                <a:ea typeface="Microsoft YaHei"/>
              </a:rPr>
              <a:t>工程可落地 · 外部模型可配置 · 无 Key 可 Mock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54480"/>
            <a:ext cx="5577840" cy="20116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554480"/>
            <a:ext cx="164592" cy="201168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8745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A526A"/>
                </a:solidFill>
                <a:latin typeface="Microsoft YaHei"/>
                <a:ea typeface="Microsoft YaHei"/>
              </a:rPr>
              <a:t>前端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4231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8296"/>
                </a:solidFill>
                <a:latin typeface="Microsoft YaHei"/>
                <a:ea typeface="Microsoft YaHei"/>
              </a:rPr>
              <a:t>Vue 3 · Vite · Element Plus · Pinia</a:t>
            </a:r>
          </a:p>
          <a:p>
            <a:pPr algn="l"/>
            <a:r>
              <a:rPr sz="1500" b="0">
                <a:solidFill>
                  <a:srgbClr val="8A8296"/>
                </a:solidFill>
                <a:latin typeface="Microsoft YaHei"/>
                <a:ea typeface="Microsoft YaHei"/>
              </a:rPr>
              <a:t>vue-i18n（5 语）· ECharts · Axios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554480"/>
            <a:ext cx="5577840" cy="20116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554480"/>
            <a:ext cx="164592" cy="2011680"/>
          </a:xfrm>
          <a:prstGeom prst="rect">
            <a:avLst/>
          </a:prstGeom>
          <a:solidFill>
            <a:srgbClr val="7E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8745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A526A"/>
                </a:solidFill>
                <a:latin typeface="Microsoft YaHei"/>
                <a:ea typeface="Microsoft YaHei"/>
              </a:rPr>
              <a:t>后端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231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8296"/>
                </a:solidFill>
                <a:latin typeface="Microsoft YaHei"/>
                <a:ea typeface="Microsoft YaHei"/>
              </a:rPr>
              <a:t>FastAPI · SQLAlchemy · SQLite · JWT</a:t>
            </a:r>
          </a:p>
          <a:p>
            <a:pPr algn="l"/>
            <a:r>
              <a:rPr sz="1500" b="0">
                <a:solidFill>
                  <a:srgbClr val="8A8296"/>
                </a:solidFill>
                <a:latin typeface="Microsoft YaHei"/>
                <a:ea typeface="Microsoft YaHei"/>
              </a:rPr>
              <a:t>Pillow · Uvicorn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49039"/>
            <a:ext cx="5577840" cy="20116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49039"/>
            <a:ext cx="164592" cy="201168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069079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A526A"/>
                </a:solidFill>
                <a:latin typeface="Microsoft YaHei"/>
                <a:ea typeface="Microsoft YaHei"/>
              </a:rPr>
              <a:t>大模型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617719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8296"/>
                </a:solidFill>
                <a:latin typeface="Microsoft YaHei"/>
                <a:ea typeface="Microsoft YaHei"/>
              </a:rPr>
              <a:t>DeepSeek / OpenAI 兼容接口</a:t>
            </a:r>
          </a:p>
          <a:p>
            <a:pPr algn="l"/>
            <a:r>
              <a:rPr sz="1500" b="0">
                <a:solidFill>
                  <a:srgbClr val="8A8296"/>
                </a:solidFill>
                <a:latin typeface="Microsoft YaHei"/>
                <a:ea typeface="Microsoft YaHei"/>
              </a:rPr>
              <a:t>文案生成 · RAG 客服问答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749039"/>
            <a:ext cx="5577840" cy="20116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749039"/>
            <a:ext cx="164592" cy="2011680"/>
          </a:xfrm>
          <a:prstGeom prst="rect">
            <a:avLst/>
          </a:prstGeom>
          <a:solidFill>
            <a:srgbClr val="7E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069079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A526A"/>
                </a:solidFill>
                <a:latin typeface="Microsoft YaHei"/>
                <a:ea typeface="Microsoft YaHei"/>
              </a:rPr>
              <a:t>图像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617719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8296"/>
                </a:solidFill>
                <a:latin typeface="Microsoft YaHei"/>
                <a:ea typeface="Microsoft YaHei"/>
              </a:rPr>
              <a:t>火山方舟 Seedream 场景/精修</a:t>
            </a:r>
          </a:p>
          <a:p>
            <a:pPr algn="l"/>
            <a:r>
              <a:rPr sz="1500" b="0">
                <a:solidFill>
                  <a:srgbClr val="8A8296"/>
                </a:solidFill>
                <a:latin typeface="Microsoft YaHei"/>
                <a:ea typeface="Microsoft YaHei"/>
              </a:rPr>
              <a:t>rembg 抠图 · 可选 Ollama 视觉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FF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011680" cy="2011680"/>
          </a:xfrm>
          <a:prstGeom prst="ellipse">
            <a:avLst/>
          </a:prstGeom>
          <a:solidFill>
            <a:srgbClr val="E0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  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A526A"/>
                </a:solidFill>
                <a:latin typeface="Microsoft YaHei"/>
                <a:ea typeface="Microsoft YaHei"/>
              </a:rPr>
              <a:t>演示与部署要点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8296"/>
                </a:solidFill>
                <a:latin typeface="Microsoft YaHei"/>
                <a:ea typeface="Microsoft YaHei"/>
              </a:rPr>
              <a:t>本地可跑通全链路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54480"/>
            <a:ext cx="11247120" cy="42976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2880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5A526A"/>
                </a:solidFill>
                <a:latin typeface="Microsoft YaHei"/>
                <a:ea typeface="Microsoft YaHei"/>
              </a:rPr>
              <a:t>♡  后端：pip install -r requirements.txt → python run.py → http://127.0.0.1:8000（Swagger /docs）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5A526A"/>
                </a:solidFill>
                <a:latin typeface="Microsoft YaHei"/>
                <a:ea typeface="Microsoft YaHei"/>
              </a:rPr>
              <a:t>♡  前端：cd shared/frontend → npm install → npm run dev → http://localhost:5173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5A526A"/>
                </a:solidFill>
                <a:latin typeface="Microsoft YaHei"/>
                <a:ea typeface="Microsoft YaHei"/>
              </a:rPr>
              <a:t>♡  环境：复制 .env.example → .env，配置 ARK_API_KEY、LLM/OPENAI、ABO 图片路径等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5A526A"/>
                </a:solidFill>
                <a:latin typeface="Microsoft YaHei"/>
                <a:ea typeface="Microsoft YaHei"/>
              </a:rPr>
              <a:t>♡  账号：无内置演示账号，首次自行注册（用户名≥2、密码≥6）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5A526A"/>
                </a:solidFill>
                <a:latin typeface="Microsoft YaHei"/>
                <a:ea typeface="Microsoft YaHei"/>
              </a:rPr>
              <a:t>♡  注意：Linux 部署需 CJK 字体（Noto/文泉驿或 POSTER_FONT_PATH），否则中文叠字异常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FF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011680" cy="2011680"/>
          </a:xfrm>
          <a:prstGeom prst="ellipse">
            <a:avLst/>
          </a:prstGeom>
          <a:solidFill>
            <a:srgbClr val="E0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  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A526A"/>
                </a:solidFill>
                <a:latin typeface="Microsoft YaHei"/>
                <a:ea typeface="Microsoft YaHei"/>
              </a:rPr>
              <a:t>总结与展望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8296"/>
                </a:solidFill>
                <a:latin typeface="Microsoft YaHei"/>
                <a:ea typeface="Microsoft YaHei"/>
              </a:rPr>
              <a:t>已打通主链路 · 差异化在「底图资产」与全站闭环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54480"/>
            <a:ext cx="7132320" cy="42976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28800"/>
            <a:ext cx="6583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5A526A"/>
                </a:solidFill>
                <a:latin typeface="Microsoft YaHei"/>
                <a:ea typeface="Microsoft YaHei"/>
              </a:rPr>
              <a:t>♡  已打通：选品 → 文案 / 海报四步 → 作品管理与广场 → RAG 客服与看板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5A526A"/>
                </a:solidFill>
                <a:latin typeface="Microsoft YaHei"/>
                <a:ea typeface="Microsoft YaHei"/>
              </a:rPr>
              <a:t>♡  差异化：Seedream 场景 + 无字底图/叠字两段式素材资产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5A526A"/>
                </a:solidFill>
                <a:latin typeface="Microsoft YaHei"/>
                <a:ea typeface="Microsoft YaHei"/>
              </a:rPr>
              <a:t>♡  工程亮点：模块化 monorepo、统一 JWT/API、Mock 便于无 Key 联调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5A526A"/>
                </a:solidFill>
                <a:latin typeface="Microsoft YaHei"/>
                <a:ea typeface="Microsoft YaHei"/>
              </a:rPr>
              <a:t>♡  依赖提醒：Ark / DeepSeek Key、ABO 本地路径、rembg 首次拉模型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554480"/>
            <a:ext cx="3886200" cy="4297680"/>
          </a:xfrm>
          <a:prstGeom prst="roundRect">
            <a:avLst>
              <a:gd name="adj" fmla="val 22000"/>
            </a:avLst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现场演示建议 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65176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</a:rPr>
              <a:t>1. 注册登录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</a:rPr>
              <a:t>2. 智能选品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</a:rPr>
              <a:t>3. 海报工作流四步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</a:rPr>
              <a:t>4. 发布作品广场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</a:rPr>
              <a:t>5. 打开运营看板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FF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011680" cy="2011680"/>
          </a:xfrm>
          <a:prstGeom prst="ellipse">
            <a:avLst/>
          </a:prstGeom>
          <a:solidFill>
            <a:srgbClr val="E0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  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A526A"/>
                </a:solidFill>
                <a:latin typeface="Microsoft YaHei"/>
                <a:ea typeface="Microsoft YaHei"/>
              </a:rPr>
              <a:t>附录：产品导航地图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8296"/>
                </a:solidFill>
                <a:latin typeface="Microsoft YaHei"/>
                <a:ea typeface="Microsoft YaHei"/>
              </a:rPr>
              <a:t>侧栏入口与主路由对应关系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645920"/>
            <a:ext cx="2743200" cy="1828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A526A"/>
                </a:solidFill>
                <a:latin typeface="Microsoft YaHei"/>
                <a:ea typeface="Microsoft YaHei"/>
              </a:rPr>
              <a:t>首页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9EB5"/>
                </a:solidFill>
                <a:latin typeface="Microsoft YaHei"/>
                <a:ea typeface="Microsoft YaHei"/>
              </a:rPr>
              <a:t>/home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645920"/>
            <a:ext cx="2743200" cy="1828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A526A"/>
                </a:solidFill>
                <a:latin typeface="Microsoft YaHei"/>
                <a:ea typeface="Microsoft YaHei"/>
              </a:rPr>
              <a:t>智能选品中心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9EB5"/>
                </a:solidFill>
                <a:latin typeface="Microsoft YaHei"/>
                <a:ea typeface="Microsoft YaHei"/>
              </a:rPr>
              <a:t>/catalog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645920"/>
            <a:ext cx="2743200" cy="1828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A526A"/>
                </a:solidFill>
                <a:latin typeface="Microsoft YaHei"/>
                <a:ea typeface="Microsoft YaHei"/>
              </a:rPr>
              <a:t>文案生成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9EB5"/>
                </a:solidFill>
                <a:latin typeface="Microsoft YaHei"/>
                <a:ea typeface="Microsoft YaHei"/>
              </a:rPr>
              <a:t>/writing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645920"/>
            <a:ext cx="2743200" cy="1828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A526A"/>
                </a:solidFill>
                <a:latin typeface="Microsoft YaHei"/>
                <a:ea typeface="Microsoft YaHei"/>
              </a:rPr>
              <a:t>AI海报工作流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9EB5"/>
                </a:solidFill>
                <a:latin typeface="Microsoft YaHei"/>
                <a:ea typeface="Microsoft YaHei"/>
              </a:rPr>
              <a:t>/poster-workflow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49039"/>
            <a:ext cx="2743200" cy="1828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16051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A526A"/>
                </a:solidFill>
                <a:latin typeface="Microsoft YaHei"/>
                <a:ea typeface="Microsoft YaHei"/>
              </a:rPr>
              <a:t>我的作品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7548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9EB5"/>
                </a:solidFill>
                <a:latin typeface="Microsoft YaHei"/>
                <a:ea typeface="Microsoft YaHei"/>
              </a:rPr>
              <a:t>/my-works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3749039"/>
            <a:ext cx="2743200" cy="1828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416051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A526A"/>
                </a:solidFill>
                <a:latin typeface="Microsoft YaHei"/>
                <a:ea typeface="Microsoft YaHei"/>
              </a:rPr>
              <a:t>作品广场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7548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9EB5"/>
                </a:solidFill>
                <a:latin typeface="Microsoft YaHei"/>
                <a:ea typeface="Microsoft YaHei"/>
              </a:rPr>
              <a:t>/gallery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749039"/>
            <a:ext cx="2743200" cy="1828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6051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A526A"/>
                </a:solidFill>
                <a:latin typeface="Microsoft YaHei"/>
                <a:ea typeface="Microsoft YaHei"/>
              </a:rPr>
              <a:t>智能客服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7548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9EB5"/>
                </a:solidFill>
                <a:latin typeface="Microsoft YaHei"/>
                <a:ea typeface="Microsoft YaHei"/>
              </a:rPr>
              <a:t>/chat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749039"/>
            <a:ext cx="2743200" cy="1828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416051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A526A"/>
                </a:solidFill>
                <a:latin typeface="Microsoft YaHei"/>
                <a:ea typeface="Microsoft YaHei"/>
              </a:rPr>
              <a:t>运营看板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47548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9EB5"/>
                </a:solidFill>
                <a:latin typeface="Microsoft YaHei"/>
                <a:ea typeface="Microsoft YaHei"/>
              </a:rPr>
              <a:t>/dashboard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FF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011680" cy="2011680"/>
          </a:xfrm>
          <a:prstGeom prst="ellipse">
            <a:avLst/>
          </a:prstGeom>
          <a:solidFill>
            <a:srgbClr val="E0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  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A526A"/>
                </a:solidFill>
                <a:latin typeface="Microsoft YaHei"/>
                <a:ea typeface="Microsoft YaHei"/>
              </a:rPr>
              <a:t>附录：团队协作分工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8296"/>
                </a:solidFill>
                <a:latin typeface="Microsoft YaHei"/>
                <a:ea typeface="Microsoft YaHei"/>
              </a:rPr>
              <a:t>统一接口约定 · 分模块交付 · 主系统整合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37360"/>
            <a:ext cx="2743200" cy="3931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37360"/>
            <a:ext cx="2743200" cy="82296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9202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成员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2608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A526A"/>
                </a:solidFill>
                <a:latin typeface="Microsoft YaHei"/>
                <a:ea typeface="Microsoft YaHei"/>
              </a:rPr>
              <a:t>认证登录、文案生成</a:t>
            </a:r>
          </a:p>
          <a:p>
            <a:pPr algn="ctr"/>
            <a:r>
              <a:rPr sz="1500" b="0">
                <a:solidFill>
                  <a:srgbClr val="5A526A"/>
                </a:solidFill>
                <a:latin typeface="Microsoft YaHei"/>
                <a:ea typeface="Microsoft YaHei"/>
              </a:rPr>
              <a:t>智能选品、项目整合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1737360"/>
            <a:ext cx="2743200" cy="3931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1737360"/>
            <a:ext cx="2743200" cy="822960"/>
          </a:xfrm>
          <a:prstGeom prst="rect">
            <a:avLst/>
          </a:prstGeom>
          <a:solidFill>
            <a:srgbClr val="7E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9202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成员 2–4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92608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A526A"/>
                </a:solidFill>
                <a:latin typeface="Microsoft YaHei"/>
                <a:ea typeface="Microsoft YaHei"/>
              </a:rPr>
              <a:t>抠图 · Seedream 背景</a:t>
            </a:r>
          </a:p>
          <a:p>
            <a:pPr algn="ctr"/>
            <a:r>
              <a:rPr sz="1500" b="0">
                <a:solidFill>
                  <a:srgbClr val="5A526A"/>
                </a:solidFill>
                <a:latin typeface="Microsoft YaHei"/>
                <a:ea typeface="Microsoft YaHei"/>
              </a:rPr>
              <a:t>海报模板与两段式合成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737360"/>
            <a:ext cx="2743200" cy="3931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737360"/>
            <a:ext cx="2743200" cy="822960"/>
          </a:xfrm>
          <a:prstGeom prst="rect">
            <a:avLst/>
          </a:prstGeom>
          <a:solidFill>
            <a:srgbClr val="F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9202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成员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92608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A526A"/>
                </a:solidFill>
                <a:latin typeface="Microsoft YaHei"/>
                <a:ea typeface="Microsoft YaHei"/>
              </a:rPr>
              <a:t>RAG 智能客服</a:t>
            </a:r>
          </a:p>
          <a:p>
            <a:pPr algn="ctr"/>
            <a:r>
              <a:rPr sz="1500" b="0">
                <a:solidFill>
                  <a:srgbClr val="5A526A"/>
                </a:solidFill>
                <a:latin typeface="Microsoft YaHei"/>
                <a:ea typeface="Microsoft YaHei"/>
              </a:rPr>
              <a:t>运营看板与统计导出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1737360"/>
            <a:ext cx="2743200" cy="3931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1737360"/>
            <a:ext cx="2743200" cy="822960"/>
          </a:xfrm>
          <a:prstGeom prst="rect">
            <a:avLst/>
          </a:prstGeom>
          <a:solidFill>
            <a:srgbClr val="7E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19202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协作约定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92608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A526A"/>
                </a:solidFill>
                <a:latin typeface="Microsoft YaHei"/>
                <a:ea typeface="Microsoft YaHei"/>
              </a:rPr>
              <a:t>JWT 鉴权</a:t>
            </a:r>
          </a:p>
          <a:p>
            <a:pPr algn="ctr"/>
            <a:r>
              <a:rPr sz="1500" b="0">
                <a:solidFill>
                  <a:srgbClr val="5A526A"/>
                </a:solidFill>
                <a:latin typeface="Microsoft YaHei"/>
                <a:ea typeface="Microsoft YaHei"/>
              </a:rPr>
              <a:t>统一 {code,message,data}</a:t>
            </a:r>
          </a:p>
          <a:p>
            <a:pPr algn="ctr"/>
            <a:r>
              <a:rPr sz="1500" b="0">
                <a:solidFill>
                  <a:srgbClr val="5A526A"/>
                </a:solidFill>
                <a:latin typeface="Microsoft YaHei"/>
                <a:ea typeface="Microsoft YaHei"/>
              </a:rPr>
              <a:t>静态资源 /static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