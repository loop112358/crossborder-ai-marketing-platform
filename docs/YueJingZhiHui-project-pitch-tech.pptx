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6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5349240"/>
            <a:ext cx="12027103" cy="150876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B4D8"/>
                </a:solidFill>
                <a:latin typeface="Microsoft YaHei"/>
                <a:ea typeface="Microsoft YaHei"/>
              </a:rPr>
              <a:t>TECHNICAL DEFENSE  ·  PROJECT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</a:rPr>
              <a:t>跨境AI营销系统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C4E8"/>
                </a:solidFill>
                <a:latin typeface="Microsoft YaHei"/>
                <a:ea typeface="Microsoft YaHei"/>
              </a:rPr>
              <a:t>越境智绘 · Beyond Borders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5D5E8"/>
                </a:solidFill>
                <a:latin typeface="Microsoft YaHei"/>
                <a:ea typeface="Microsoft YaHei"/>
              </a:rPr>
              <a:t>选品 → 文案 → 抠图 / 背景 / 海报 → 客服与看板</a:t>
            </a:r>
          </a:p>
          <a:p>
            <a:pPr algn="l"/>
            <a:r>
              <a:rPr sz="1600" b="0">
                <a:solidFill>
                  <a:srgbClr val="C5D5E8"/>
                </a:solidFill>
                <a:latin typeface="Microsoft YaHei"/>
                <a:ea typeface="Microsoft YaHei"/>
              </a:rPr>
              <a:t>一站式 AI 电商营销工具平台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项目展示汇报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CF0"/>
                </a:solidFill>
                <a:latin typeface="Microsoft YaHei"/>
                <a:ea typeface="Microsoft YaHei"/>
              </a:rPr>
              <a:t>模块化架构 · 全链路打通 · 可演示可部署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技术答辩 · 项目展示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Microsoft YaHei"/>
                <a:ea typeface="Microsoft YaHei"/>
              </a:rPr>
              <a:t>为什么做 · 服务谁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跨境卖家素材链路长，工具分散，需要端到端闭环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463040" cy="45720"/>
          </a:xfrm>
          <a:prstGeom prst="rect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55448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566160" cy="59436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6642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688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选品、抠图、场景、海报文案、</a:t>
            </a:r>
          </a:p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客服、数据分散</a:t>
            </a:r>
          </a:p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素材制作链路长、协作成本高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55448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554480"/>
            <a:ext cx="3566160" cy="5943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16642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用户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688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跨境电商商家 / 运营</a:t>
            </a:r>
          </a:p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设计与内容协作方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554480"/>
            <a:ext cx="3566160" cy="59436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16642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4688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从 ABO 货盘到可发布营销海报</a:t>
            </a:r>
          </a:p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一站式完成营销素材与运营辅助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技术答辩 · 项目展示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Microsoft YaHei"/>
                <a:ea typeface="Microsoft YaHei"/>
              </a:rPr>
              <a:t>整体架构一览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统一入口 · 模块化挂载 · 本地知识库与静态资产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463040" cy="45720"/>
          </a:xfrm>
          <a:prstGeom prst="rect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112471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2011680" cy="128016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830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Vue 3 + Vite + Element Plus</a:t>
            </a:r>
          </a:p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Pinia / Router / i18n</a:t>
            </a:r>
          </a:p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@m1–@m5 聚合各模块页面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112471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2011680" cy="12801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后端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2004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FastAPI + Uvicorn</a:t>
            </a:r>
          </a:p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python run.py 统一启动</a:t>
            </a:r>
          </a:p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自动挂载 module1–5 路由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43400"/>
            <a:ext cx="112471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2011680" cy="128016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数据与资产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61772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SQLite · JWT 鉴权</a:t>
            </a:r>
          </a:p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static/{matte,background,poster}</a:t>
            </a:r>
          </a:p>
          <a:p>
            <a:pPr algn="l"/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ABO 货盘 + FAISS 知识库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技术答辩 · 项目展示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Microsoft YaHei"/>
                <a:ea typeface="Microsoft YaHei"/>
              </a:rPr>
              <a:t>核心链路：AI 海报工作流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四步推进 · 中间结果自动带入 · 底图可复用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463040" cy="45720"/>
          </a:xfrm>
          <a:prstGeom prst="rect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55448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B4D8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商品抠图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成员2</a:t>
            </a:r>
          </a:p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透明商品图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8346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6FD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55448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B4D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背景生成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成员3</a:t>
            </a:r>
          </a:p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Seedream 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8346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6FD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55448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B4D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无字底图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260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成员4</a:t>
            </a:r>
          </a:p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商品+背景素材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8346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6FD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55448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B4D8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加文案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9260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成员4</a:t>
            </a:r>
          </a:p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叠字成稿发布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•  海报合成拆成两步：先生成无字底图原始素材（可收藏），再基于底图加入营销文案成稿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技术答辩 · 项目展示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Microsoft YaHei"/>
                <a:ea typeface="Microsoft YaHei"/>
              </a:rPr>
              <a:t>关键能力（上）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选品 · 文案 · 抠图 · 背景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463040" cy="45720"/>
          </a:xfrm>
          <a:prstGeom prst="rect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5AA8"/>
                </a:solidFill>
                <a:latin typeface="Microsoft YaHei"/>
                <a:ea typeface="Microsoft YaHei"/>
              </a:rPr>
              <a:t>选品与文案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•  智能选品：检索 ABO 货盘，一键跳转文案或海报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•  文案生成：TikTok / Instagram / Amazon；中英日韩西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•  多风格 + 批量多平台；历史可复用到海报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5AA8"/>
                </a:solidFill>
                <a:latin typeface="Microsoft YaHei"/>
                <a:ea typeface="Microsoft YaHei"/>
              </a:rPr>
              <a:t>视觉前处理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•  商品抠图：上传 → 识别 → 自动抠图 → 展示下载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•  背景生成：品类/风格/色调/场景/光照等 Prompt 控制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•  与商品分析、文案、海报模块协同运行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技术答辩 · 项目展示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Microsoft YaHei"/>
                <a:ea typeface="Microsoft YaHei"/>
              </a:rPr>
              <a:t>关键能力（下）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海报 · 作品库 · 广场 · 客服看板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463040" cy="45720"/>
          </a:xfrm>
          <a:prstGeom prst="rect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5778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91440" cy="2011680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AA8"/>
                </a:solidFill>
                <a:latin typeface="Microsoft YaHei"/>
                <a:ea typeface="Microsoft YaHei"/>
              </a:rPr>
              <a:t>海报模板与合成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多文字层：字体/颜色/字号/坐标</a:t>
            </a:r>
          </a:p>
          <a:p>
            <a:pPr algn="l"/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描边、阴影、发光等艺术字效果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55778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91440" cy="2011680"/>
          </a:xfrm>
          <a:prstGeom prst="rect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AA8"/>
                </a:solidFill>
                <a:latin typeface="Microsoft YaHei"/>
                <a:ea typeface="Microsoft YaHei"/>
              </a:rPr>
              <a:t>我的作品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402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文案 · 成稿 · 底图素材 · 收藏</a:t>
            </a:r>
          </a:p>
          <a:p>
            <a:pPr algn="l"/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底图可「用于加字」；成稿可发布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55778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91440" cy="2011680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AA8"/>
                </a:solidFill>
                <a:latin typeface="Microsoft YaHei"/>
                <a:ea typeface="Microsoft YaHei"/>
              </a:rPr>
              <a:t>作品广场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348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浏览全站已发布海报</a:t>
            </a:r>
          </a:p>
          <a:p>
            <a:pPr algn="l"/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搜索 / 预览 / 下载 / 收藏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657600"/>
            <a:ext cx="55778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657600"/>
            <a:ext cx="91440" cy="2011680"/>
          </a:xfrm>
          <a:prstGeom prst="rect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AA8"/>
                </a:solidFill>
                <a:latin typeface="Microsoft YaHei"/>
                <a:ea typeface="Microsoft YaHei"/>
              </a:rPr>
              <a:t>客服与看板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348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会话推荐 + FAISS RAG</a:t>
            </a:r>
          </a:p>
          <a:p>
            <a:pPr algn="l"/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运营数据、AI 建议、云端运维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技术答辩 · 项目展示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Microsoft YaHei"/>
                <a:ea typeface="Microsoft YaHei"/>
              </a:rPr>
              <a:t>技术栈与 AI 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工程可落地 · 外部模型可配置 · 无 Key 可 Mock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463040" cy="45720"/>
          </a:xfrm>
          <a:prstGeom prst="rect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5577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109728" cy="196596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Vue 3 · Vite · Element Plus · Pinia</a:t>
            </a:r>
          </a:p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vue-i18n（5 语）· ECharts · Axios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5577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109728" cy="1965960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后端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3317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FastAPI · SQLAlchemy · SQLite · JWT</a:t>
            </a:r>
          </a:p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Pillow · Uvicorn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5577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109728" cy="196596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大模型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805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DeepSeek / OpenAI 兼容接口</a:t>
            </a:r>
          </a:p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文案生成 · RAG 客服问答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657600"/>
            <a:ext cx="5577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657600"/>
            <a:ext cx="109728" cy="1965960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图像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4805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火山方舟 Seedream 场景/精修</a:t>
            </a:r>
          </a:p>
          <a:p>
            <a:pPr algn="l"/>
            <a:r>
              <a:rPr sz="1400" b="0">
                <a:solidFill>
                  <a:srgbClr val="5B6B7C"/>
                </a:solidFill>
                <a:latin typeface="Microsoft YaHei"/>
                <a:ea typeface="Microsoft YaHei"/>
              </a:rPr>
              <a:t>rembg 抠图 · 可选 Ollama 视觉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技术答辩 · 项目展示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Microsoft YaHei"/>
                <a:ea typeface="Microsoft YaHei"/>
              </a:rPr>
              <a:t>演示与部署要点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本地可跑通全链路；云端由成员5保障上线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463040" cy="45720"/>
          </a:xfrm>
          <a:prstGeom prst="rect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112471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•  后端：pip install -r requirements.txt → python run.py → http://127.0.0.1:8000（Swagger /docs）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•  前端：cd shared/frontend → npm install → npm run dev → http://localhost:5173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•  环境：复制 .env.example → .env，配置 ARK_API_KEY、LLM/OPENAI、ABO 图片路径等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•  账号：无内置演示账号，首次自行注册（用户名≥2、密码≥6）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33A"/>
                </a:solidFill>
                <a:latin typeface="Microsoft YaHei"/>
                <a:ea typeface="Microsoft YaHei"/>
              </a:rPr>
              <a:t>•  云端：构建发布、线上问题排查修复，保障系统稳定可用（成员5）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技术答辩 · 项目展示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Microsoft YaHei"/>
                <a:ea typeface="Microsoft YaHei"/>
              </a:rPr>
              <a:t>总结与展望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已打通主链路 · 差异化在「底图资产」与全站闭环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463040" cy="45720"/>
          </a:xfrm>
          <a:prstGeom prst="rect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71323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6583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•  已打通：选品 → 文案 / 海报四步 → 作品管理与广场 → RAG 客服与看板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•  差异化：Seedream 场景 + 无字底图/叠字两段式素材资产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•  工程亮点：模块化 monorepo、统一 JWT/API、Mock 便于无 Key 联调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233A"/>
                </a:solidFill>
                <a:latin typeface="Microsoft YaHei"/>
                <a:ea typeface="Microsoft YaHei"/>
              </a:rPr>
              <a:t>•  依赖提醒：Ark / DeepSeek Key、ABO 本地路径、rembg 首次拉模型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508760"/>
            <a:ext cx="3886200" cy="429768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B4D8"/>
                </a:solidFill>
                <a:latin typeface="Microsoft YaHei"/>
                <a:ea typeface="Microsoft YaHei"/>
              </a:rPr>
              <a:t>现场演示建议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603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1. 注册登录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2. 智能选品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3. 海报工作流四步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4. 发布作品广场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5. 打开运营看板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技术答辩 · 项目展示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Microsoft YaHei"/>
                <a:ea typeface="Microsoft YaHei"/>
              </a:rPr>
              <a:t>附录：产品导航地图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侧栏入口与主路由对应关系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463040" cy="45720"/>
          </a:xfrm>
          <a:prstGeom prst="rect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15544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首页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6FDB"/>
                </a:solidFill>
                <a:latin typeface="Microsoft YaHei"/>
                <a:ea typeface="Microsoft YaHei"/>
              </a:rPr>
              <a:t>/home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5544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智能选品中心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6FDB"/>
                </a:solidFill>
                <a:latin typeface="Microsoft YaHei"/>
                <a:ea typeface="Microsoft YaHei"/>
              </a:rPr>
              <a:t>/catalog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5544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文案生成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6FDB"/>
                </a:solidFill>
                <a:latin typeface="Microsoft YaHei"/>
                <a:ea typeface="Microsoft YaHei"/>
              </a:rPr>
              <a:t>/writing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5544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AI海报工作流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6FDB"/>
                </a:solidFill>
                <a:latin typeface="Microsoft YaHei"/>
                <a:ea typeface="Microsoft YaHei"/>
              </a:rPr>
              <a:t>/poster-workflow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576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069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我的作品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6FDB"/>
                </a:solidFill>
                <a:latin typeface="Microsoft YaHei"/>
                <a:ea typeface="Microsoft YaHei"/>
              </a:rPr>
              <a:t>/my-works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6576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66160" y="4069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作品广场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6FDB"/>
                </a:solidFill>
                <a:latin typeface="Microsoft YaHei"/>
                <a:ea typeface="Microsoft YaHei"/>
              </a:rPr>
              <a:t>/gallery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6576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069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智能客服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6FDB"/>
                </a:solidFill>
                <a:latin typeface="Microsoft YaHei"/>
                <a:ea typeface="Microsoft YaHei"/>
              </a:rPr>
              <a:t>/chat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6576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4069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运营看板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F6FDB"/>
                </a:solidFill>
                <a:latin typeface="Microsoft YaHei"/>
                <a:ea typeface="Microsoft YaHei"/>
              </a:rPr>
              <a:t>/dashboard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越境智绘 · 跨境AI营销系统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46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技术答辩 · 项目展示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Microsoft YaHei"/>
                <a:ea typeface="Microsoft YaHei"/>
              </a:rPr>
              <a:t>团队协作分工总览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五位成员分模块交付 · 统一接口联调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463040" cy="45720"/>
          </a:xfrm>
          <a:prstGeom prst="rect">
            <a:avLst/>
          </a:prstGeom>
          <a:solidFill>
            <a:srgbClr val="2F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4320" y="1554480"/>
            <a:ext cx="22402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2240280" cy="73152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719072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成员1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97" y="2560320"/>
            <a:ext cx="2084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负责平台认证与文案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，项目整合与联调，作品广场模块</a:t>
            </a:r>
            <a:endParaRPr b="0" dirty="0">
              <a:solidFill>
                <a:srgbClr val="1A23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633472" y="1554480"/>
            <a:ext cx="22402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33472" y="1554480"/>
            <a:ext cx="2240280" cy="7315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1719072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成员2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560320"/>
            <a:ext cx="1965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>
                <a:solidFill>
                  <a:srgbClr val="1A233A"/>
                </a:solidFill>
                <a:latin typeface="Microsoft YaHei"/>
                <a:ea typeface="Microsoft YaHei"/>
              </a:rPr>
              <a:t>商品识别与自动抠图</a:t>
            </a:r>
            <a:r>
              <a:rPr lang="zh-CN" altLang="en-US" dirty="0">
                <a:solidFill>
                  <a:srgbClr val="1A233A"/>
                </a:solidFill>
                <a:latin typeface="Microsoft YaHei"/>
                <a:ea typeface="Microsoft YaHei"/>
              </a:rPr>
              <a:t>，</a:t>
            </a:r>
            <a:r>
              <a:rPr dirty="0" err="1">
                <a:solidFill>
                  <a:srgbClr val="1A233A"/>
                </a:solidFill>
                <a:latin typeface="Microsoft YaHei"/>
                <a:ea typeface="Microsoft YaHei"/>
              </a:rPr>
              <a:t>标准化透明素材输出</a:t>
            </a:r>
            <a:endParaRPr dirty="0">
              <a:solidFill>
                <a:srgbClr val="1A233A"/>
              </a:solidFill>
              <a:latin typeface="Microsoft YaHei"/>
              <a:ea typeface="Microsoft YaHe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92624" y="1554480"/>
            <a:ext cx="22402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92624" y="1554480"/>
            <a:ext cx="2240280" cy="73152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84064" y="1719072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成员3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9753" y="2587752"/>
            <a:ext cx="19121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 err="1">
                <a:solidFill>
                  <a:srgbClr val="1A233A"/>
                </a:solidFill>
                <a:latin typeface="Microsoft YaHei"/>
                <a:ea typeface="Microsoft YaHei"/>
              </a:rPr>
              <a:t>背景生成与增强</a:t>
            </a:r>
            <a:endParaRPr b="0" dirty="0">
              <a:solidFill>
                <a:srgbClr val="1A233A"/>
              </a:solidFill>
              <a:latin typeface="Microsoft YaHei"/>
              <a:ea typeface="Microsoft YaHei"/>
            </a:endParaRPr>
          </a:p>
          <a:p>
            <a:r>
              <a:rPr b="0" dirty="0">
                <a:solidFill>
                  <a:srgbClr val="1A233A"/>
                </a:solidFill>
                <a:latin typeface="Microsoft YaHei"/>
                <a:ea typeface="Microsoft YaHei"/>
              </a:rPr>
              <a:t>Prompt+</a:t>
            </a:r>
            <a:endParaRPr lang="en-US" b="0" dirty="0">
              <a:solidFill>
                <a:srgbClr val="1A233A"/>
              </a:solidFill>
              <a:latin typeface="Microsoft YaHei"/>
              <a:ea typeface="Microsoft YaHei"/>
            </a:endParaRPr>
          </a:p>
          <a:p>
            <a:r>
              <a:rPr b="0" dirty="0" err="1">
                <a:solidFill>
                  <a:srgbClr val="1A233A"/>
                </a:solidFill>
                <a:latin typeface="Microsoft YaHei"/>
                <a:ea typeface="Microsoft YaHei"/>
              </a:rPr>
              <a:t>Seedream</a:t>
            </a:r>
            <a:endParaRPr b="0" dirty="0">
              <a:solidFill>
                <a:srgbClr val="1A233A"/>
              </a:solidFill>
              <a:latin typeface="Microsoft YaHei"/>
              <a:ea typeface="Microsoft YaHe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51776" y="1554480"/>
            <a:ext cx="22402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51776" y="1554480"/>
            <a:ext cx="2240280" cy="7315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43216" y="1719072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成员4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8936" y="2560320"/>
            <a:ext cx="1965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 err="1">
                <a:solidFill>
                  <a:srgbClr val="1A233A"/>
                </a:solidFill>
                <a:latin typeface="Microsoft YaHei"/>
                <a:ea typeface="Microsoft YaHei"/>
              </a:rPr>
              <a:t>海报合成与素材管理</a:t>
            </a:r>
            <a:r>
              <a:rPr lang="zh-CN" altLang="en-US" dirty="0">
                <a:solidFill>
                  <a:srgbClr val="1A233A"/>
                </a:solidFill>
                <a:latin typeface="Microsoft YaHei"/>
                <a:ea typeface="Microsoft YaHei"/>
              </a:rPr>
              <a:t>，</a:t>
            </a:r>
            <a:r>
              <a:rPr b="0" dirty="0" err="1">
                <a:solidFill>
                  <a:srgbClr val="1A233A"/>
                </a:solidFill>
                <a:latin typeface="Microsoft YaHei"/>
                <a:ea typeface="Microsoft YaHei"/>
              </a:rPr>
              <a:t>模板</a:t>
            </a:r>
            <a:r>
              <a:rPr b="0" dirty="0">
                <a:solidFill>
                  <a:srgbClr val="1A233A"/>
                </a:solidFill>
                <a:latin typeface="Microsoft YaHei"/>
                <a:ea typeface="Microsoft YaHei"/>
              </a:rPr>
              <a:t> / </a:t>
            </a:r>
            <a:r>
              <a:rPr b="0" dirty="0" err="1">
                <a:solidFill>
                  <a:srgbClr val="1A233A"/>
                </a:solidFill>
                <a:latin typeface="Microsoft YaHei"/>
                <a:ea typeface="Microsoft YaHei"/>
              </a:rPr>
              <a:t>历史</a:t>
            </a:r>
            <a:r>
              <a:rPr b="0" dirty="0">
                <a:solidFill>
                  <a:srgbClr val="1A233A"/>
                </a:solidFill>
                <a:latin typeface="Microsoft YaHei"/>
                <a:ea typeface="Microsoft YaHei"/>
              </a:rPr>
              <a:t> / </a:t>
            </a:r>
            <a:r>
              <a:rPr b="0" dirty="0" err="1">
                <a:solidFill>
                  <a:srgbClr val="1A233A"/>
                </a:solidFill>
                <a:latin typeface="Microsoft YaHei"/>
                <a:ea typeface="Microsoft YaHei"/>
              </a:rPr>
              <a:t>收藏</a:t>
            </a:r>
            <a:endParaRPr b="0" dirty="0">
              <a:solidFill>
                <a:srgbClr val="1A233A"/>
              </a:solidFill>
              <a:latin typeface="Microsoft YaHei"/>
              <a:ea typeface="Microsoft YaHe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710928" y="1554480"/>
            <a:ext cx="22402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10928" y="1554480"/>
            <a:ext cx="2240280" cy="73152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02368" y="1719072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成员5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2560320"/>
            <a:ext cx="1965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1A233A"/>
                </a:solidFill>
                <a:latin typeface="Microsoft YaHei"/>
                <a:ea typeface="Microsoft YaHei"/>
              </a:rPr>
              <a:t>智能</a:t>
            </a:r>
            <a:r>
              <a:rPr b="0" dirty="0" err="1">
                <a:solidFill>
                  <a:srgbClr val="1A233A"/>
                </a:solidFill>
                <a:latin typeface="Microsoft YaHei"/>
                <a:ea typeface="Microsoft YaHei"/>
              </a:rPr>
              <a:t>客服</a:t>
            </a:r>
            <a:r>
              <a:rPr lang="en-US" b="0" dirty="0">
                <a:solidFill>
                  <a:srgbClr val="1A233A"/>
                </a:solidFill>
                <a:latin typeface="Microsoft YaHei"/>
                <a:ea typeface="Microsoft YaHei"/>
              </a:rPr>
              <a:t>+</a:t>
            </a:r>
            <a:r>
              <a:rPr lang="zh-CN" altLang="en-US" dirty="0">
                <a:solidFill>
                  <a:srgbClr val="1A233A"/>
                </a:solidFill>
                <a:latin typeface="Microsoft YaHei"/>
                <a:ea typeface="Microsoft YaHei"/>
              </a:rPr>
              <a:t>运营</a:t>
            </a:r>
            <a:r>
              <a:rPr b="0" dirty="0" err="1">
                <a:solidFill>
                  <a:srgbClr val="1A233A"/>
                </a:solidFill>
                <a:latin typeface="Microsoft YaHei"/>
                <a:ea typeface="Microsoft YaHei"/>
              </a:rPr>
              <a:t>看板</a:t>
            </a:r>
            <a:r>
              <a:rPr lang="en-US" dirty="0">
                <a:solidFill>
                  <a:srgbClr val="1A233A"/>
                </a:solidFill>
                <a:latin typeface="Microsoft YaHei"/>
                <a:ea typeface="Microsoft YaHei"/>
              </a:rPr>
              <a:t>+</a:t>
            </a:r>
            <a:r>
              <a:rPr lang="zh-CN" altLang="en-US" dirty="0">
                <a:solidFill>
                  <a:srgbClr val="1A233A"/>
                </a:solidFill>
                <a:latin typeface="Microsoft YaHei"/>
                <a:ea typeface="Microsoft YaHei"/>
              </a:rPr>
              <a:t>智能</a:t>
            </a:r>
            <a:r>
              <a:rPr b="0" dirty="0" err="1">
                <a:solidFill>
                  <a:srgbClr val="1A233A"/>
                </a:solidFill>
                <a:latin typeface="Microsoft YaHei"/>
                <a:ea typeface="Microsoft YaHei"/>
              </a:rPr>
              <a:t>选品</a:t>
            </a:r>
            <a:endParaRPr b="0" dirty="0">
              <a:solidFill>
                <a:srgbClr val="1A233A"/>
              </a:solidFill>
              <a:latin typeface="Microsoft YaHei"/>
              <a:ea typeface="Microsoft YaHei"/>
            </a:endParaRPr>
          </a:p>
          <a:p>
            <a:r>
              <a:rPr b="0" dirty="0" err="1">
                <a:solidFill>
                  <a:srgbClr val="1A233A"/>
                </a:solidFill>
                <a:latin typeface="Microsoft YaHei"/>
                <a:ea typeface="Microsoft YaHei"/>
              </a:rPr>
              <a:t>云端部署与运维</a:t>
            </a:r>
            <a:endParaRPr b="0" dirty="0">
              <a:solidFill>
                <a:srgbClr val="1A233A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687</Words>
  <Application>Microsoft Office PowerPoint</Application>
  <PresentationFormat>宽屏</PresentationFormat>
  <Paragraphs>165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lishuofeiyx@126.com</cp:lastModifiedBy>
  <cp:revision>2</cp:revision>
  <dcterms:created xsi:type="dcterms:W3CDTF">2013-01-27T09:14:16Z</dcterms:created>
  <dcterms:modified xsi:type="dcterms:W3CDTF">2026-07-29T07:43:10Z</dcterms:modified>
  <cp:category/>
</cp:coreProperties>
</file>